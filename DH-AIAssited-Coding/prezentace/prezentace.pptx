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E488A69-7193-478C-8B1F-132CFF2AD74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6B2E91-9EFD-43D5-8F3B-D7858F9E33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35702-F0E6-40F5-AC7A-E2F2CCD212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916D90-9F98-4DB1-8531-0D94EB8C4C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6E831-F5AE-477B-A64E-91FEC4EBFA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CC52C-5594-4590-9C65-5DC87B7C8B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678385-49B7-42B5-90AA-7BB93236B5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A84628-E9C1-43D6-866F-C091E2B49A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6BC1C-64A3-499C-9259-6352BEA4EA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767E97-96D3-476B-B836-67AF84A030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F15771-ACF2-427F-9B9D-215EE4D9AC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6C7986-9D3C-46C6-AE3E-490D8D65E5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40FCC-7D57-4729-BEC8-B46383974B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7DA0C3-318D-4082-8063-EFA761EC04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3BAC46-75FC-4245-9ED2-F6E3A5C0D7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DC080A-A2E8-4289-A205-37E39BCB8F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454FD6-FC73-4CBD-8A78-C31EBF8147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9595CF-851A-49F3-A6D2-6F37A737C2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moodle.cuni.cz/mod/assign/view.php?id=1179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1097280"/>
            <a:ext cx="63720" cy="292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1005840"/>
            <a:ext cx="7772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AI asistované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programování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731520" y="50292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Luděk Svoboda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31520" y="13258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6b6d4"/>
                </a:solidFill>
                <a:latin typeface="Calibri"/>
                <a:ea typeface="Calibri"/>
              </a:rPr>
              <a:t>Research Software Engineer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731520" y="1874520"/>
            <a:ext cx="7772040" cy="1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31520" y="205740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Email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920240" y="20574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ludek.svoboda@ff.cuni.cz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731520" y="265176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Tým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920240" y="265176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RSE tým, Univerzita Karlova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31520" y="3246120"/>
            <a:ext cx="1096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Web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920240" y="324612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rse.cuni.cz/RSE-1.html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3657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RSE tým – co děláme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502920" y="1005840"/>
            <a:ext cx="8229240" cy="1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502920" y="1188720"/>
            <a:ext cx="2742840" cy="338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1188720"/>
            <a:ext cx="274284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685800" y="13258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27" name="Text 4"/>
          <p:cNvSpPr/>
          <p:nvPr/>
        </p:nvSpPr>
        <p:spPr>
          <a:xfrm>
            <a:off x="640080" y="19202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Kurzy v oblasti programování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640080" y="278892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Výuka programování, nástrojů a best practices pro výzkumné pracovníky a studenty.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429000" y="1188720"/>
            <a:ext cx="2742840" cy="338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3429000" y="1188720"/>
            <a:ext cx="274284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2"/>
          <a:stretch/>
        </p:blipFill>
        <p:spPr>
          <a:xfrm>
            <a:off x="3611880" y="13258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2" name="Text 8"/>
          <p:cNvSpPr/>
          <p:nvPr/>
        </p:nvSpPr>
        <p:spPr>
          <a:xfrm>
            <a:off x="3566160" y="19202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Výpomoc s vývojem a úpravami software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3566160" y="278892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Spolupráce na výzkumných projektech — od prototypů po produkční nástroje.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6355080" y="1188720"/>
            <a:ext cx="2742840" cy="338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1"/>
          <p:cNvSpPr/>
          <p:nvPr/>
        </p:nvSpPr>
        <p:spPr>
          <a:xfrm>
            <a:off x="6355080" y="1188720"/>
            <a:ext cx="2742840" cy="5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2" descr="preencoded.png"/>
          <p:cNvPicPr/>
          <p:nvPr/>
        </p:nvPicPr>
        <p:blipFill>
          <a:blip r:embed="rId3"/>
          <a:stretch/>
        </p:blipFill>
        <p:spPr>
          <a:xfrm>
            <a:off x="6537960" y="132588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37" name="Text 12"/>
          <p:cNvSpPr/>
          <p:nvPr/>
        </p:nvSpPr>
        <p:spPr>
          <a:xfrm>
            <a:off x="6492240" y="192024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Zprostředkování výpočetních prostředků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492240" y="278892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Přístup k HPC clusteru Chiméra a dalším výpočetním zdrojům univerzity.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731520" y="502920"/>
            <a:ext cx="7772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Ukázka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731520" y="1417320"/>
            <a:ext cx="7772040" cy="1462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731520" y="1417320"/>
            <a:ext cx="63720" cy="1462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960120" y="15544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Darwin Correspondence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960120" y="205740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6b6d4"/>
                </a:solidFill>
                <a:latin typeface="Calibri"/>
                <a:ea typeface="Calibri"/>
              </a:rPr>
              <a:t>NER Visualisation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914400" y="329184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Koncepty LLMs </a:t>
            </a:r>
            <a:r>
              <a:rPr b="1" i="1" lang="en-US" sz="3200" spc="-1" strike="noStrike">
                <a:solidFill>
                  <a:srgbClr val="06b6d4"/>
                </a:solidFill>
                <a:latin typeface="Calibri"/>
                <a:ea typeface="Calibri"/>
              </a:rPr>
              <a:t>(nejen)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 pro programování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731520" y="1371600"/>
            <a:ext cx="292572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731520" y="13716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AI asistent je LLM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758880" y="21031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005840" y="19659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Kontext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co model "vidí" při generování odpovědi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758880" y="276156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1005840" y="262440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Halucinace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neexistující knihovny, příkazy, funkce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758880" y="34200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005840" y="32828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Bias z trénovacích dat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starší nebo suboptimální řešení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758880" y="407808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1005840" y="39409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Chybné závěry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model chce za každou cenu dokončit úkol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731520" y="1371600"/>
            <a:ext cx="365724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731520" y="137160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Větší míra automatizace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758880" y="21031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005840" y="19659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Nástroje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LLM které má k dispozici nástroje které může volat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758880" y="276156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1005840" y="262440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Instrukce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dostává instrukce o své roli a dostupných nástrojích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758880" y="34200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1005840" y="32828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Smyčka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volá nástroj, zpracuje výstup a opakuje dokud nedokončí zadání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758880" y="407808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1005840" y="39409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Rizika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menší dohled — může smazat data, udělat nepořádek nebo utratit moc tokenů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502920" y="548640"/>
            <a:ext cx="63720" cy="639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Míra automatizace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502920" y="1325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← </a:t>
            </a: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více kontroly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6492240" y="13258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více automatizace →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502920" y="1600200"/>
            <a:ext cx="2742840" cy="9108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3291840" y="1600200"/>
            <a:ext cx="2742840" cy="91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6"/>
          <p:cNvSpPr/>
          <p:nvPr/>
        </p:nvSpPr>
        <p:spPr>
          <a:xfrm>
            <a:off x="6080760" y="1600200"/>
            <a:ext cx="2742840" cy="91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8503920" y="15361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6b6d4"/>
                </a:solidFill>
                <a:latin typeface="Calibri"/>
              </a:rPr>
              <a:t>▶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502920" y="1828800"/>
            <a:ext cx="2697120" cy="2742840"/>
          </a:xfrm>
          <a:prstGeom prst="rect">
            <a:avLst/>
          </a:prstGeom>
          <a:solidFill>
            <a:srgbClr val="1e3a4a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502920" y="1828800"/>
            <a:ext cx="2697120" cy="63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40080" y="19386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Našeptávač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640080" y="2423160"/>
            <a:ext cx="2422800" cy="1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667440" y="2756880"/>
            <a:ext cx="82080" cy="820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822960" y="2606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Píšeš ty, AI doplňuje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667440" y="3323880"/>
            <a:ext cx="82080" cy="820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822960" y="3173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Vysoká kontrola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667440" y="3890880"/>
            <a:ext cx="82080" cy="820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822960" y="3740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Nutné umět programovat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3291840" y="1828800"/>
            <a:ext cx="2697120" cy="2742840"/>
          </a:xfrm>
          <a:prstGeom prst="rect">
            <a:avLst/>
          </a:prstGeom>
          <a:solidFill>
            <a:srgbClr val="0c4a6e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3291840" y="1828800"/>
            <a:ext cx="2697120" cy="63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3429000" y="19386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Chatovací rozhraní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1"/>
          <p:cNvSpPr/>
          <p:nvPr/>
        </p:nvSpPr>
        <p:spPr>
          <a:xfrm>
            <a:off x="3429000" y="2423160"/>
            <a:ext cx="2422800" cy="180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22"/>
          <p:cNvSpPr/>
          <p:nvPr/>
        </p:nvSpPr>
        <p:spPr>
          <a:xfrm>
            <a:off x="3456360" y="2756880"/>
            <a:ext cx="82080" cy="82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3"/>
          <p:cNvSpPr/>
          <p:nvPr/>
        </p:nvSpPr>
        <p:spPr>
          <a:xfrm>
            <a:off x="3611880" y="2606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Popisuješ, AI generuje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4"/>
          <p:cNvSpPr/>
          <p:nvPr/>
        </p:nvSpPr>
        <p:spPr>
          <a:xfrm>
            <a:off x="3456360" y="3323880"/>
            <a:ext cx="82080" cy="82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3611880" y="3173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Střední kontrola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6"/>
          <p:cNvSpPr/>
          <p:nvPr/>
        </p:nvSpPr>
        <p:spPr>
          <a:xfrm>
            <a:off x="3456360" y="3890880"/>
            <a:ext cx="82080" cy="82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3611880" y="3740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Copy-paste workflow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28"/>
          <p:cNvSpPr/>
          <p:nvPr/>
        </p:nvSpPr>
        <p:spPr>
          <a:xfrm>
            <a:off x="6080760" y="1828800"/>
            <a:ext cx="2697120" cy="2742840"/>
          </a:xfrm>
          <a:prstGeom prst="rect">
            <a:avLst/>
          </a:prstGeom>
          <a:solidFill>
            <a:srgbClr val="164e63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29"/>
          <p:cNvSpPr/>
          <p:nvPr/>
        </p:nvSpPr>
        <p:spPr>
          <a:xfrm>
            <a:off x="6080760" y="1828800"/>
            <a:ext cx="2697120" cy="63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6217920" y="19386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AI agenti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1"/>
          <p:cNvSpPr/>
          <p:nvPr/>
        </p:nvSpPr>
        <p:spPr>
          <a:xfrm>
            <a:off x="6217920" y="2423160"/>
            <a:ext cx="2422800" cy="1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32"/>
          <p:cNvSpPr/>
          <p:nvPr/>
        </p:nvSpPr>
        <p:spPr>
          <a:xfrm>
            <a:off x="6245280" y="2756880"/>
            <a:ext cx="82080" cy="82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6400800" y="2606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Zadáš úkol, agent pracuje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4"/>
          <p:cNvSpPr/>
          <p:nvPr/>
        </p:nvSpPr>
        <p:spPr>
          <a:xfrm>
            <a:off x="6245280" y="3323880"/>
            <a:ext cx="82080" cy="82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5"/>
          <p:cNvSpPr/>
          <p:nvPr/>
        </p:nvSpPr>
        <p:spPr>
          <a:xfrm>
            <a:off x="6400800" y="3173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Malá až nulová kontrola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36"/>
          <p:cNvSpPr/>
          <p:nvPr/>
        </p:nvSpPr>
        <p:spPr>
          <a:xfrm>
            <a:off x="6245280" y="3890880"/>
            <a:ext cx="82080" cy="82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7"/>
          <p:cNvSpPr/>
          <p:nvPr/>
        </p:nvSpPr>
        <p:spPr>
          <a:xfrm>
            <a:off x="6400800" y="37400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Potřeba nejméně znalostí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38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Rozšiřování agentů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731520" y="1371600"/>
            <a:ext cx="411444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731520" y="137160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Dají se přidat nástroje a instrukce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758880" y="21031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005840" y="19659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MCP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předpřipravené rozhraní pro volání aplikací třetích stran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1005840" y="2359080"/>
            <a:ext cx="7589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6b6d4"/>
                </a:solidFill>
                <a:latin typeface="Calibri"/>
                <a:ea typeface="Calibri"/>
              </a:rPr>
              <a:t>např. Figma, Playwright, GitHub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758880" y="29718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1005840" y="28346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Skill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dokumentace pro agenty — instrukce jak používat nástroj nebo složitější workflow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Výběr modelu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758880" y="18288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1005840" y="16916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Kvalita modelu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velké rozdíly ve výsledcích, zejména u starších modelů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758880" y="269748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1005840" y="25603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Dnes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frontier modely jsou srovnatelnější, důležitá i cenová efektivita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758880" y="356616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1005840" y="342900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Srovnání modelů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</a:t>
            </a:r>
            <a:r>
              <a:rPr b="0" lang="en-US" sz="1500" spc="-1" strike="noStrike" u="sng">
                <a:solidFill>
                  <a:srgbClr val="06b6d4"/>
                </a:solidFill>
                <a:uFillTx/>
                <a:latin typeface="Calibri"/>
                <a:ea typeface="Calibri"/>
              </a:rPr>
              <a:t>artificialanalysis.ai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Co jde agentům dobře a co hůře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731520" y="1371600"/>
            <a:ext cx="795492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822960" y="137160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Modely mají široké znalosti, ale ne do hloubky. Dáno povahou trénovacích dat, modely jsou také omezeny kontextem.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758880" y="2249280"/>
            <a:ext cx="109440" cy="109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1005840" y="2103120"/>
            <a:ext cx="7589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2c55e"/>
                </a:solidFill>
                <a:latin typeface="Calibri"/>
                <a:ea typeface="Calibri"/>
              </a:rPr>
              <a:t>Jde dobře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frontend, jednodušší skripty, jednorázové aplikace "pro sebe", typy aplikací a frameworků co jsou rozšířené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758880" y="3346560"/>
            <a:ext cx="109440" cy="109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1005840" y="3200400"/>
            <a:ext cx="7589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87171"/>
                </a:solidFill>
                <a:latin typeface="Calibri"/>
                <a:ea typeface="Calibri"/>
              </a:rPr>
              <a:t>Jde hůře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doménově specifické úkoly, větší projekty s velkým množstvím kódu, rozhodování o architektuře, dobře škálovatelný kód produkční kvality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Realistická očekávání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758880" y="18745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1005840" y="1737360"/>
            <a:ext cx="7589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Obecné věci jdou rychle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obecná funkcionalita nebo vzhled — výsledek přijde rychle s minimálním popisem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758880" y="306324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1005840" y="2926080"/>
            <a:ext cx="7589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Specifické věci vyžadují práci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konkrétní požadavky je třeba dobře popsat a iterativně upřesňovat — model nevidí přesně co máte na mysli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Best practices</a:t>
            </a:r>
            <a:r>
              <a:rPr b="1" lang="en-US" sz="3200" spc="-1" strike="noStrike">
                <a:solidFill>
                  <a:srgbClr val="94a3b8"/>
                </a:solidFill>
                <a:latin typeface="Calibri"/>
                <a:ea typeface="Calibri"/>
              </a:rPr>
              <a:t>  —  obecné a příprava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758880" y="16459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1005840" y="15087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Angličtina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modely jsou trénované převážně na anglických datech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758880" y="23958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005840" y="22586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Průzkum problému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s modelem probrat problém před generováním kódu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758880" y="314568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1005840" y="30085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Plánovací mód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u složitějšího projektu nejdřív naplánovat postup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758880" y="38952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1005840" y="37580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Kontext</a:t>
            </a:r>
            <a:r>
              <a:rPr b="0" lang="en-US" sz="1500" spc="-1" strike="noStrike">
                <a:solidFill>
                  <a:srgbClr val="94a3b8"/>
                </a:solidFill>
                <a:latin typeface="Calibri"/>
                <a:ea typeface="Calibri"/>
              </a:rPr>
              <a:t>  —  přidat relevantní soubory a dostatečný popis úkolu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Best practices</a:t>
            </a:r>
            <a:r>
              <a:rPr b="1" lang="en-US" sz="3200" spc="-1" strike="noStrike">
                <a:solidFill>
                  <a:srgbClr val="94a3b8"/>
                </a:solidFill>
                <a:latin typeface="Calibri"/>
                <a:ea typeface="Calibri"/>
              </a:rPr>
              <a:t>  —  úpravy a ověřování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758880" y="155448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005840" y="14173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Iterovat po částech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upravovat věci po částech, po dokončení vyzkoušet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758880" y="21762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005840" y="20390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Číst závěry modelu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být v obraze co se udělalo, pro lepší další úkolování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758880" y="27979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1005840" y="26607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Verzování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Git jako záchranná síť — zvláště při práci s agenty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758880" y="34200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1005840" y="32828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Testování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pořádně a často testovat — může být mnoho schovaných menších chyb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758880" y="404172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1005840" y="39045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Dokumentování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čistit kontext dlouhých sezení, dokumentovat pro budoucí použití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Nástroje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758880" y="1563480"/>
            <a:ext cx="91080" cy="91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1005840" y="141732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Cursor / VS Code (s extensions)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IDE s AI agentem, našeptávačem a chatem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758880" y="2221920"/>
            <a:ext cx="91080" cy="91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1005840" y="207576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Claude Code / Gemini CLI / Codex (OpenAI)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terminálové agenty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758880" y="2880360"/>
            <a:ext cx="91080" cy="91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1005840" y="273420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Claude Code Desktop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Claude Code použitelný pro Windows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758880" y="3538800"/>
            <a:ext cx="91080" cy="91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1005840" y="339228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bolt.new / v0.dev / Lovable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webový AI coding agent — bez instalace, jen prohlížeč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731520" y="4224600"/>
            <a:ext cx="7954920" cy="438480"/>
          </a:xfrm>
          <a:prstGeom prst="rect">
            <a:avLst/>
          </a:prstGeom>
          <a:solidFill>
            <a:srgbClr val="1e3a3a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914400" y="4224600"/>
            <a:ext cx="7680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dd3d8"/>
                </a:solidFill>
                <a:latin typeface="Calibri"/>
                <a:ea typeface="Calibri"/>
              </a:rPr>
              <a:t>📥  </a:t>
            </a:r>
            <a:r>
              <a:rPr b="0" lang="en-US" sz="1100" spc="-1" strike="noStrike">
                <a:solidFill>
                  <a:srgbClr val="7dd3d8"/>
                </a:solidFill>
                <a:latin typeface="Calibri"/>
                <a:ea typeface="Calibri"/>
              </a:rPr>
              <a:t>Detailnější přehled nástrojů najdete na Moodle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731520" y="50292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Buďte rozumní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758880" y="16002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1005840" y="146304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Začněte jednoduše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nezačínejte s 10 agenty, subagenty a desítkami MCP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758880" y="25146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005840" y="237744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Vyberte si nástroj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jeden a držte se ho — měňte jen pokud zaostává za konkurencí nebo se zhorší cena či použitelnost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758880" y="34290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1005840" y="329184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Citlivá data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nekopírujte do modelu důvěrná data, zdrojové kódy nebo osobní údaje bez znalosti podmínek nástroje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/home/claude/tortoise.png"/>
          <p:cNvPicPr/>
          <p:nvPr/>
        </p:nvPicPr>
        <p:blipFill>
          <a:blip r:embed="rId1"/>
          <a:stretch/>
        </p:blipFill>
        <p:spPr>
          <a:xfrm>
            <a:off x="6217920" y="1097280"/>
            <a:ext cx="2559960" cy="1828440"/>
          </a:xfrm>
          <a:prstGeom prst="rect">
            <a:avLst/>
          </a:prstGeom>
          <a:ln w="0">
            <a:noFill/>
          </a:ln>
        </p:spPr>
      </p:pic>
      <p:sp>
        <p:nvSpPr>
          <p:cNvPr id="194" name="Text 8"/>
          <p:cNvSpPr/>
          <p:nvPr/>
        </p:nvSpPr>
        <p:spPr>
          <a:xfrm>
            <a:off x="6217920" y="29718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Mario Zechner — "Thoughts on slowing the fuck down"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731520" y="50292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Moje zkušenosti — pivot (změna směru/přístupu)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731520" y="1371600"/>
            <a:ext cx="7954920" cy="383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822960" y="137160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Model sám pivot často nenavrhne, bude se snažit debugovat stávající řešení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758880" y="211680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1005840" y="192024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Situace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webová aplikace pro zpracování videa, špatný výkon kvůli síťovému provozu mezi UI a lokálním processingem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758880" y="282996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1005840" y="263340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Pivot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přechod na desktopovou aplikaci, obešla se síťová vrstva úplně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8"/>
          <p:cNvSpPr/>
          <p:nvPr/>
        </p:nvSpPr>
        <p:spPr>
          <a:xfrm>
            <a:off x="758880" y="354348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9"/>
          <p:cNvSpPr/>
          <p:nvPr/>
        </p:nvSpPr>
        <p:spPr>
          <a:xfrm>
            <a:off x="1005840" y="334656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 se reuse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UI, workflow a logika aplikace se přenesly, poznatky ze špatného přístupu nezapadnou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758880" y="4256640"/>
            <a:ext cx="109440" cy="109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1005840" y="4060080"/>
            <a:ext cx="7589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Cena pivotu</a:t>
            </a:r>
            <a:r>
              <a:rPr b="0" lang="en-US" sz="1400" spc="-1" strike="noStrike">
                <a:solidFill>
                  <a:srgbClr val="94a3b8"/>
                </a:solidFill>
                <a:latin typeface="Calibri"/>
                <a:ea typeface="Calibri"/>
              </a:rPr>
              <a:t>  —  kódování je teď rychlé, začít znovu s AI asistencí neznamená ztrátu dnů práce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502920" y="548640"/>
            <a:ext cx="63720" cy="402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31520" y="5029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b6d4"/>
                </a:solidFill>
                <a:latin typeface="Calibri"/>
                <a:ea typeface="Calibri"/>
              </a:rPr>
              <a:t>Domácí úkol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4663440" y="502920"/>
            <a:ext cx="18000" cy="4114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731520" y="1005840"/>
            <a:ext cx="3748680" cy="1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868680" y="1143000"/>
            <a:ext cx="379476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  <a:hlinkClick r:id="rId1"/>
              </a:rPr>
              <a:t>Zprovoznění AI assitenta a vytvoření jednoduché aplikace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731520" y="2331720"/>
            <a:ext cx="3748680" cy="502560"/>
          </a:xfrm>
          <a:prstGeom prst="rect">
            <a:avLst/>
          </a:prstGeom>
          <a:solidFill>
            <a:srgbClr val="1e3a3a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822960" y="23317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dd3d8"/>
                </a:solidFill>
                <a:latin typeface="Calibri"/>
                <a:ea typeface="Calibri"/>
              </a:rPr>
              <a:t>📥  </a:t>
            </a:r>
            <a:r>
              <a:rPr b="0" lang="en-US" sz="1200" spc="-1" strike="noStrike">
                <a:solidFill>
                  <a:srgbClr val="7dd3d8"/>
                </a:solidFill>
                <a:latin typeface="Calibri"/>
                <a:ea typeface="Calibri"/>
              </a:rPr>
              <a:t>Zadání a návod na Moodle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731520" y="29718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Jiný nástroj dle vlastního výběru je také v pořádku — většina ostatních nástrojů je placená.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4892040" y="502920"/>
            <a:ext cx="3840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b6d4"/>
                </a:solidFill>
                <a:latin typeface="Calibri"/>
                <a:ea typeface="Calibri"/>
              </a:rPr>
              <a:t>Kontakt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4892040" y="1005840"/>
            <a:ext cx="3840120" cy="1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4892040" y="11887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Luděk Svoboda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4892040" y="1463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ludek.svoboda@ff.cuni.cz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4892040" y="19018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RSE tým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4892040" y="217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rse@cuni.cz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4892040" y="2615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4a3b8"/>
                </a:solidFill>
                <a:latin typeface="Calibri"/>
                <a:ea typeface="Calibri"/>
              </a:rPr>
              <a:t>Web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4892040" y="28893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rse.cuni.cz/RSE-1.html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457200" y="480060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RSE tým  ·  Univerzita Karlova  ·  2025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2026-04-29T14:20:52Z</dcterms:created>
  <dc:creator>PptxGenJS</dc:creator>
  <dc:description/>
  <dc:language>en-US</dc:language>
  <cp:lastModifiedBy/>
  <cp:lastPrinted>2026-05-12T15:37:29Z</cp:lastPrinted>
  <dcterms:modified xsi:type="dcterms:W3CDTF">2026-05-12T15:37:36Z</dcterms:modified>
  <cp:revision>2</cp:revision>
  <dc:subject>PptxGenJS Presentation</dc:subject>
  <dc:title>AI asistované programování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